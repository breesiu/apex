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493776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510528"/>
            <a:ext cx="15240000" cy="1178692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9211849"/>
            <a:ext cx="15240000" cy="1318005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068800" y="6510528"/>
            <a:ext cx="15240000" cy="14016821"/>
          </a:xfrm>
          <a:prstGeom prst="rect">
            <a:avLst/>
          </a:prstGeom>
          <a:solidFill>
            <a:srgbClr val="EF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3223200" y="6510528"/>
            <a:ext cx="15240000" cy="119101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223200" y="19335078"/>
            <a:ext cx="15240000" cy="1477706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2856388"/>
            <a:ext cx="14142720" cy="544106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• 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Core Observation: </a:t>
            </a:r>
            <a:r>
              <a:rPr sz="4400" b="1">
                <a:solidFill>
                  <a:srgbClr val="137F6D"/>
                </a:solidFill>
                <a:latin typeface="Arial" panose="020B0604020202020204"/>
              </a:rPr>
              <a:t>SGD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 noise causes reward oscillations despite stable BC loss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lvl="1"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◦ Long-horizon rewards swing between consecutive gradient iterates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lvl="1"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◦ Fractal reward landscapes invisible in single-step objectives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• Root Cause: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 Chaotic propagation of minibatch noise through feedback loops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63040" y="27471725"/>
            <a:ext cx="14142720" cy="49201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• </a:t>
            </a:r>
            <a:r>
              <a:rPr sz="4400" b="1">
                <a:solidFill>
                  <a:srgbClr val="137F6D"/>
                </a:solidFill>
                <a:latin typeface="Arial" panose="020B0604020202020204"/>
              </a:rPr>
              <a:t>GVA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 Identified: Gradient Variance Amplification as algorithmic phenomenon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lvl="1"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◦ Oscillations persist across architectures and regularizers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lvl="1"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◦ Diminish only as learning rate decays to zero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• </a:t>
            </a:r>
            <a:r>
              <a:rPr sz="4400" b="1">
                <a:solidFill>
                  <a:srgbClr val="000000"/>
                </a:solidFill>
                <a:latin typeface="Arial" panose="020B0604020202020204"/>
              </a:rPr>
              <a:t>Key Insight: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 Standard mitigation techniques fail to address GVA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617440" y="13486272"/>
            <a:ext cx="14142720" cy="704107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• </a:t>
            </a:r>
            <a:r>
              <a:rPr sz="4400" b="1">
                <a:solidFill>
                  <a:srgbClr val="000000"/>
                </a:solidFill>
                <a:latin typeface="Arial" panose="020B0604020202020204"/>
              </a:rPr>
              <a:t>Core Innovation: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 Exponential Moving Average as variance reduction technique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lvl="1"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◦ Updates every iterate with burn-in phase and γ(t) = t^(-α) decay schedule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lvl="1"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◦ Dramatically reduces reward oscillations without changing optimization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• </a:t>
            </a:r>
            <a:r>
              <a:rPr sz="4400" b="1">
                <a:solidFill>
                  <a:srgbClr val="000000"/>
                </a:solidFill>
                <a:latin typeface="Arial" panose="020B0604020202020204"/>
              </a:rPr>
              <a:t>Impact: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 Enables stable training trajectories and improved sample efficiency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• </a:t>
            </a:r>
            <a:r>
              <a:rPr sz="4400" b="1">
                <a:solidFill>
                  <a:srgbClr val="000000"/>
                </a:solidFill>
                <a:latin typeface="Arial" panose="020B0604020202020204"/>
              </a:rPr>
              <a:t>Theoretical Basis: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sz="4400" b="1">
                <a:solidFill>
                  <a:srgbClr val="137F6D"/>
                </a:solidFill>
                <a:latin typeface="Arial" panose="020B0604020202020204"/>
              </a:rPr>
              <a:t>EMA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 reduces gradient variance amplification in closed-loop systems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771840" y="12979400"/>
            <a:ext cx="14142720" cy="485267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• GVA in </a:t>
            </a:r>
            <a:r>
              <a:rPr sz="4400" b="1">
                <a:solidFill>
                  <a:srgbClr val="137F6D"/>
                </a:solidFill>
                <a:latin typeface="Arial" panose="020B0604020202020204"/>
              </a:rPr>
              <a:t>Autoregression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: Same phenomenon in 270M-parameter Transformers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lvl="1"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◦ Consecutive checkpoints disagree on &gt;50% of generated text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lvl="1"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◦ EMA reduces disagreement to &lt;5% of iterates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• </a:t>
            </a:r>
            <a:r>
              <a:rPr sz="4400" b="1">
                <a:solidFill>
                  <a:srgbClr val="000000"/>
                </a:solidFill>
                <a:latin typeface="Arial" panose="020B0604020202020204"/>
              </a:rPr>
              <a:t>Key Benefit: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 EMA enables training without learning rate decay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771840" y="29191965"/>
            <a:ext cx="14142720" cy="49201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• </a:t>
            </a:r>
            <a:r>
              <a:rPr sz="4400" b="1">
                <a:solidFill>
                  <a:srgbClr val="137F6D"/>
                </a:solidFill>
                <a:latin typeface="Arial" panose="020B0604020202020204"/>
              </a:rPr>
              <a:t>Universal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 Stabilization: EMA benefits across diverse architectures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lvl="1"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◦ MLPs, Transformers, CNNs all show reduced oscillations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lvl="1"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◦ Most pronounced in smaller dataset regimes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• </a:t>
            </a:r>
            <a:r>
              <a:rPr sz="4400" b="1">
                <a:solidFill>
                  <a:srgbClr val="000000"/>
                </a:solidFill>
                <a:latin typeface="Arial" panose="020B0604020202020204"/>
              </a:rPr>
              <a:t>Practical Impact: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 Consistent improvements in sample efficiency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12" name="Picture 11" descr="figure-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7816088"/>
            <a:ext cx="14691360" cy="4765980"/>
          </a:xfrm>
          <a:prstGeom prst="rect">
            <a:avLst/>
          </a:prstGeom>
        </p:spPr>
      </p:pic>
      <p:pic>
        <p:nvPicPr>
          <p:cNvPr id="13" name="Picture 12" descr="figur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0517409"/>
            <a:ext cx="14691360" cy="6679995"/>
          </a:xfrm>
          <a:prstGeom prst="rect">
            <a:avLst/>
          </a:prstGeom>
        </p:spPr>
      </p:pic>
      <p:pic>
        <p:nvPicPr>
          <p:cNvPr id="14" name="Picture 13" descr="figur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3120" y="7816088"/>
            <a:ext cx="14691360" cy="5395864"/>
          </a:xfrm>
          <a:prstGeom prst="rect">
            <a:avLst/>
          </a:prstGeom>
        </p:spPr>
      </p:pic>
      <p:pic>
        <p:nvPicPr>
          <p:cNvPr id="15" name="Picture 14" descr="figure-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7520" y="7816088"/>
            <a:ext cx="14691360" cy="4889208"/>
          </a:xfrm>
          <a:prstGeom prst="rect">
            <a:avLst/>
          </a:prstGeom>
        </p:spPr>
      </p:pic>
      <p:pic>
        <p:nvPicPr>
          <p:cNvPr id="16" name="Picture 15" descr="table-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97520" y="20640638"/>
            <a:ext cx="14691360" cy="8277007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188720" y="6637528"/>
            <a:ext cx="502310" cy="812800"/>
          </a:xfrm>
          <a:prstGeom prst="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88720" y="19338849"/>
            <a:ext cx="502310" cy="812800"/>
          </a:xfrm>
          <a:prstGeom prst="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343120" y="6637528"/>
            <a:ext cx="502310" cy="812800"/>
          </a:xfrm>
          <a:prstGeom prst="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497520" y="6637528"/>
            <a:ext cx="502310" cy="812800"/>
          </a:xfrm>
          <a:prstGeom prst="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497520" y="19462078"/>
            <a:ext cx="502310" cy="812800"/>
          </a:xfrm>
          <a:prstGeom prst="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01520" y="6510528"/>
            <a:ext cx="14691360" cy="8128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Helvetica Neue"/>
              </a:defRPr>
            </a:pPr>
            <a:r>
              <a:t>Training Instabilities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01520" y="19211849"/>
            <a:ext cx="14691360" cy="8128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Helvetica Neue"/>
              </a:defRPr>
            </a:pPr>
            <a:r>
              <a:t>Algorithmic Pathology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55920" y="6510528"/>
            <a:ext cx="14691360" cy="8128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Helvetica Neue"/>
              </a:defRPr>
            </a:pPr>
            <a:r>
              <a:t>EMA Stabilizer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310320" y="6510528"/>
            <a:ext cx="14691360" cy="8128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Helvetica Neue"/>
              </a:defRPr>
            </a:pPr>
            <a:r>
              <a:t>Language 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310320" y="19335078"/>
            <a:ext cx="14691360" cy="8128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Helvetica Neue"/>
              </a:defRPr>
            </a:pPr>
            <a:r>
              <a:t>Architecture Comparison</a:t>
            </a:r>
          </a:p>
        </p:txBody>
      </p:sp>
      <p:pic>
        <p:nvPicPr>
          <p:cNvPr id="27" name="Picture 26" descr="a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23199" y="914400"/>
            <a:ext cx="3883970" cy="3110271"/>
          </a:xfrm>
          <a:prstGeom prst="rect">
            <a:avLst/>
          </a:prstGeom>
        </p:spPr>
      </p:pic>
      <p:pic>
        <p:nvPicPr>
          <p:cNvPr id="28" name="Picture 27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21571" y="914400"/>
            <a:ext cx="10441627" cy="311027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14400" y="914400"/>
            <a:ext cx="31394400" cy="5723255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lnSpc>
                <a:spcPct val="100000"/>
              </a:lnSpc>
              <a:defRPr sz="10000" b="1">
                <a:solidFill>
                  <a:srgbClr val="000000"/>
                </a:solidFill>
                <a:latin typeface="Helvetica Neue"/>
              </a:defRPr>
            </a:pPr>
            <a:r>
              <a:t>Butterfly Effects of SGD Noise: Error Amplification in Behavior Cloning and Autoregression</a:t>
            </a:r>
          </a:p>
          <a:p>
            <a:pPr algn="l">
              <a:lnSpc>
                <a:spcPct val="110000"/>
              </a:lnSpc>
              <a:defRPr sz="7200">
                <a:solidFill>
                  <a:srgbClr val="3C3C3C"/>
                </a:solidFill>
                <a:latin typeface="Arial" panose="020B0604020202020204"/>
              </a:defRPr>
            </a:pPr>
            <a:r>
              <a:t>A. Block, D.J. Foster, A. Krishnamurthy, M. Simchowitz, C. Zhang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1638</Words>
  <Application>WPS 演示</Application>
  <PresentationFormat>On-screen Show (4:3)</PresentationFormat>
  <Paragraphs>39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Arial</vt:lpstr>
      <vt:lpstr>Helvetica Neue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nnnn</cp:lastModifiedBy>
  <cp:revision>2</cp:revision>
  <dcterms:created xsi:type="dcterms:W3CDTF">2013-01-27T09:14:00Z</dcterms:created>
  <dcterms:modified xsi:type="dcterms:W3CDTF">2025-12-17T12:04:45Z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41D99E60F1E34EC1A3B3C1F594CD895F_13</vt:lpwstr>
  </property>
  <property fmtid="{D5CDD505-2E9C-101B-9397-08002B2CF9AE}" pid="3" name="KSOProductBuildVer">
    <vt:lpwstr>2052-12.1.0.23542</vt:lpwstr>
  </property>
</Properties>
</file>