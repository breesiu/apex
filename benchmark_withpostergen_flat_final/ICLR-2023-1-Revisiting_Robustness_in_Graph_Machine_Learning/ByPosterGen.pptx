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493776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14" d="100"/>
          <a:sy n="14" d="100"/>
        </p:scale>
        <p:origin x="1449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6510528"/>
            <a:ext cx="15240000" cy="1679469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4219619"/>
            <a:ext cx="15240000" cy="618782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068800" y="6510528"/>
            <a:ext cx="15240000" cy="11781048"/>
          </a:xfrm>
          <a:prstGeom prst="rect">
            <a:avLst/>
          </a:prstGeom>
          <a:solidFill>
            <a:srgbClr val="E6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068800" y="19205976"/>
            <a:ext cx="15240000" cy="1620983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223200" y="6510528"/>
            <a:ext cx="15240000" cy="1373009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223200" y="21155021"/>
            <a:ext cx="15240000" cy="10644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7864157"/>
            <a:ext cx="14142720" cy="550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• </a:t>
            </a:r>
            <a:r>
              <a:rPr sz="4400" b="1">
                <a:solidFill>
                  <a:srgbClr val="000000"/>
                </a:solidFill>
                <a:latin typeface="Arial" panose="020B0604020202020204"/>
              </a:rPr>
              <a:t>Core Issue:</a:t>
            </a:r>
            <a:r>
              <a:rPr sz="4400">
                <a:solidFill>
                  <a:srgbClr val="000000"/>
                </a:solidFill>
                <a:latin typeface="Arial" panose="020B0604020202020204"/>
              </a:rPr>
              <a:t> GNNs show unrobustness to small graph structure changes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  <a:p>
            <a:pPr lvl="1"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◦ Manual graph inspection makes semantic preservation unclear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  <a:p>
            <a:pPr lvl="1"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◦ Current threat models may violate semantic content assumptions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• </a:t>
            </a:r>
            <a:r>
              <a:rPr sz="4400" b="1">
                <a:solidFill>
                  <a:srgbClr val="000000"/>
                </a:solidFill>
                <a:latin typeface="Arial" panose="020B0604020202020204"/>
              </a:rPr>
              <a:t>Key Finding:</a:t>
            </a:r>
            <a:r>
              <a:rPr sz="4400">
                <a:solidFill>
                  <a:srgbClr val="000000"/>
                </a:solidFill>
                <a:latin typeface="Arial" panose="020B0604020202020204"/>
              </a:rPr>
              <a:t> All assessed GNNs exhibit </a:t>
            </a:r>
            <a:r>
              <a:rPr sz="4400" b="1">
                <a:solidFill>
                  <a:srgbClr val="7F6313"/>
                </a:solidFill>
                <a:latin typeface="Arial" panose="020B0604020202020204"/>
              </a:rPr>
              <a:t>over-robustness</a:t>
            </a:r>
            <a:r>
              <a:rPr sz="4400">
                <a:solidFill>
                  <a:srgbClr val="000000"/>
                </a:solidFill>
                <a:latin typeface="Arial" panose="020B0604020202020204"/>
              </a:rPr>
              <a:t> beyond semantic change points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63040" y="25525179"/>
            <a:ext cx="14142720" cy="415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• </a:t>
            </a:r>
            <a:r>
              <a:rPr sz="4400" b="1">
                <a:solidFill>
                  <a:srgbClr val="000000"/>
                </a:solidFill>
                <a:latin typeface="Arial" panose="020B0604020202020204"/>
              </a:rPr>
              <a:t>Graph Notation:</a:t>
            </a:r>
            <a:r>
              <a:rPr sz="4400">
                <a:solidFill>
                  <a:srgbClr val="000000"/>
                </a:solidFill>
                <a:latin typeface="Arial" panose="020B0604020202020204"/>
              </a:rPr>
              <a:t> Inductive node classification with feature matrix X, adjacency A, labels y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• </a:t>
            </a:r>
            <a:r>
              <a:rPr sz="4400" b="1">
                <a:solidFill>
                  <a:srgbClr val="000000"/>
                </a:solidFill>
                <a:latin typeface="Arial" panose="020B0604020202020204"/>
              </a:rPr>
              <a:t>Label Propagation:</a:t>
            </a:r>
            <a:r>
              <a:rPr sz="4400">
                <a:solidFill>
                  <a:srgbClr val="000000"/>
                </a:solidFill>
                <a:latin typeface="Arial" panose="020B0604020202020204"/>
              </a:rPr>
              <a:t> Combines GNN predictions with graph structure via iterative updates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• </a:t>
            </a:r>
            <a:r>
              <a:rPr sz="4400" b="1">
                <a:solidFill>
                  <a:srgbClr val="000000"/>
                </a:solidFill>
                <a:latin typeface="Arial" panose="020B0604020202020204"/>
              </a:rPr>
              <a:t>CSBMs:</a:t>
            </a:r>
            <a:r>
              <a:rPr sz="4400">
                <a:solidFill>
                  <a:srgbClr val="000000"/>
                </a:solidFill>
                <a:latin typeface="Arial" panose="020B0604020202020204"/>
              </a:rPr>
              <a:t> Provide controllable synthetic graphs with analytically tractable distributions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617440" y="12850514"/>
            <a:ext cx="14142720" cy="550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• </a:t>
            </a:r>
            <a:r>
              <a:rPr sz="4400" b="1">
                <a:solidFill>
                  <a:srgbClr val="000000"/>
                </a:solidFill>
                <a:latin typeface="Arial" panose="020B0604020202020204"/>
              </a:rPr>
              <a:t>Novel Framework:</a:t>
            </a:r>
            <a:r>
              <a:rPr sz="4400">
                <a:solidFill>
                  <a:srgbClr val="000000"/>
                </a:solidFill>
                <a:latin typeface="Arial" panose="020B0604020202020204"/>
              </a:rPr>
              <a:t> </a:t>
            </a:r>
            <a:r>
              <a:rPr sz="4400" i="1">
                <a:solidFill>
                  <a:srgbClr val="000000"/>
                </a:solidFill>
                <a:latin typeface="Arial" panose="020B0604020202020204"/>
              </a:rPr>
              <a:t>Semantic</a:t>
            </a:r>
            <a:r>
              <a:rPr sz="4400">
                <a:solidFill>
                  <a:srgbClr val="000000"/>
                </a:solidFill>
                <a:latin typeface="Arial" panose="020B0604020202020204"/>
              </a:rPr>
              <a:t>s-aware robustness using reference classifier g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  <a:p>
            <a:pPr lvl="1"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◦ Definition 1: Adversarial graphs preserve semantics, change predictions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  <a:p>
            <a:pPr lvl="1"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◦ Definition 2: Over-robustness captures unwanted semantic robustness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• </a:t>
            </a:r>
            <a:r>
              <a:rPr sz="4400" b="1">
                <a:solidFill>
                  <a:srgbClr val="000000"/>
                </a:solidFill>
                <a:latin typeface="Arial" panose="020B0604020202020204"/>
              </a:rPr>
              <a:t>Key Innovation:</a:t>
            </a:r>
            <a:r>
              <a:rPr sz="4400">
                <a:solidFill>
                  <a:srgbClr val="000000"/>
                </a:solidFill>
                <a:latin typeface="Arial" panose="020B0604020202020204"/>
              </a:rPr>
              <a:t> Bayes classifier provides semantic oracle for robustness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617440" y="31016523"/>
            <a:ext cx="14142720" cy="415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• </a:t>
            </a:r>
            <a:r>
              <a:rPr sz="4400" b="1">
                <a:solidFill>
                  <a:srgbClr val="000000"/>
                </a:solidFill>
                <a:latin typeface="Arial" panose="020B0604020202020204"/>
              </a:rPr>
              <a:t>Theorem 1:</a:t>
            </a:r>
            <a:r>
              <a:rPr sz="4400">
                <a:solidFill>
                  <a:srgbClr val="000000"/>
                </a:solidFill>
                <a:latin typeface="Arial" panose="020B0604020202020204"/>
              </a:rPr>
              <a:t> Bayes optimal classifier for inductive classification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• </a:t>
            </a:r>
            <a:r>
              <a:rPr sz="4400" b="1">
                <a:solidFill>
                  <a:srgbClr val="000000"/>
                </a:solidFill>
                <a:latin typeface="Arial" panose="020B0604020202020204"/>
              </a:rPr>
              <a:t>Theorem 2:</a:t>
            </a:r>
            <a:r>
              <a:rPr sz="4400">
                <a:solidFill>
                  <a:srgbClr val="000000"/>
                </a:solidFill>
                <a:latin typeface="Arial" panose="020B0604020202020204"/>
              </a:rPr>
              <a:t> No </a:t>
            </a:r>
            <a:r>
              <a:rPr sz="4400" b="1">
                <a:solidFill>
                  <a:srgbClr val="000000"/>
                </a:solidFill>
                <a:latin typeface="Arial" panose="020B0604020202020204"/>
              </a:rPr>
              <a:t>robustness-accuracy tradeoff</a:t>
            </a:r>
            <a:r>
              <a:rPr sz="4400">
                <a:solidFill>
                  <a:srgbClr val="000000"/>
                </a:solidFill>
                <a:latin typeface="Arial" panose="020B0604020202020204"/>
              </a:rPr>
              <a:t> for graph data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  <a:p>
            <a:pPr lvl="1"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◦ Combined optimization yields </a:t>
            </a:r>
            <a:r>
              <a:rPr sz="4400" b="1">
                <a:solidFill>
                  <a:srgbClr val="000000"/>
                </a:solidFill>
                <a:latin typeface="Arial" panose="020B0604020202020204"/>
              </a:rPr>
              <a:t>Bayes optimality</a:t>
            </a:r>
            <a:endParaRPr sz="4400" b="1">
              <a:solidFill>
                <a:srgbClr val="000000"/>
              </a:solidFill>
              <a:latin typeface="Arial" panose="020B0604020202020204"/>
            </a:endParaRPr>
          </a:p>
          <a:p>
            <a:pPr lvl="1"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◦ Contrasts with i.i.d. settings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771840" y="15879246"/>
            <a:ext cx="14142720" cy="415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• </a:t>
            </a:r>
            <a:r>
              <a:rPr sz="4400" b="1">
                <a:solidFill>
                  <a:srgbClr val="000000"/>
                </a:solidFill>
                <a:latin typeface="Arial" panose="020B0604020202020204"/>
              </a:rPr>
              <a:t>Prevalent Issue:</a:t>
            </a:r>
            <a:r>
              <a:rPr sz="4400">
                <a:solidFill>
                  <a:srgbClr val="000000"/>
                </a:solidFill>
                <a:latin typeface="Arial" panose="020B0604020202020204"/>
              </a:rPr>
              <a:t> Threat models include semantic changes (&gt;50% for K≤3)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• </a:t>
            </a:r>
            <a:r>
              <a:rPr sz="4400" b="1">
                <a:solidFill>
                  <a:srgbClr val="000000"/>
                </a:solidFill>
                <a:latin typeface="Arial" panose="020B0604020202020204"/>
              </a:rPr>
              <a:t>Universal Finding:</a:t>
            </a:r>
            <a:r>
              <a:rPr sz="4400">
                <a:solidFill>
                  <a:srgbClr val="000000"/>
                </a:solidFill>
                <a:latin typeface="Arial" panose="020B0604020202020204"/>
              </a:rPr>
              <a:t> All GNNs show over-robustness (30.3% GCN at K=0.5)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• </a:t>
            </a:r>
            <a:r>
              <a:rPr sz="4400" b="1">
                <a:solidFill>
                  <a:srgbClr val="000000"/>
                </a:solidFill>
                <a:latin typeface="Arial" panose="020B0604020202020204"/>
              </a:rPr>
              <a:t>Effective Solution:</a:t>
            </a:r>
            <a:r>
              <a:rPr sz="4400">
                <a:solidFill>
                  <a:srgbClr val="000000"/>
                </a:solidFill>
                <a:latin typeface="Arial" panose="020B0604020202020204"/>
              </a:rPr>
              <a:t> LP reduces over-robustness while maintaining accuracy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771840" y="27437726"/>
            <a:ext cx="14142720" cy="415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• </a:t>
            </a:r>
            <a:r>
              <a:rPr sz="4400" b="1">
                <a:solidFill>
                  <a:srgbClr val="000000"/>
                </a:solidFill>
                <a:latin typeface="Arial" panose="020B0604020202020204"/>
              </a:rPr>
              <a:t>LP Effectiveness:</a:t>
            </a:r>
            <a:r>
              <a:rPr sz="4400">
                <a:solidFill>
                  <a:srgbClr val="000000"/>
                </a:solidFill>
                <a:latin typeface="Arial" panose="020B0604020202020204"/>
              </a:rPr>
              <a:t> GCN+LP reduces over-robustness to 20.9% (K=0.5)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• </a:t>
            </a:r>
            <a:r>
              <a:rPr sz="4400" b="1">
                <a:solidFill>
                  <a:srgbClr val="000000"/>
                </a:solidFill>
                <a:latin typeface="Arial" panose="020B0604020202020204"/>
              </a:rPr>
              <a:t>Real-world Validation:</a:t>
            </a:r>
            <a:r>
              <a:rPr sz="4400">
                <a:solidFill>
                  <a:srgbClr val="000000"/>
                </a:solidFill>
                <a:latin typeface="Arial" panose="020B0604020202020204"/>
              </a:rPr>
              <a:t> Cora-ML shows degree-multiple robustness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</a:pPr>
            <a:r>
              <a:rPr sz="4400">
                <a:solidFill>
                  <a:srgbClr val="000000"/>
                </a:solidFill>
                <a:latin typeface="Arial" panose="020B0604020202020204"/>
              </a:rPr>
              <a:t>• </a:t>
            </a:r>
            <a:r>
              <a:rPr sz="4400" b="1">
                <a:solidFill>
                  <a:srgbClr val="000000"/>
                </a:solidFill>
                <a:latin typeface="Arial" panose="020B0604020202020204"/>
              </a:rPr>
              <a:t>Best Performance:</a:t>
            </a:r>
            <a:r>
              <a:rPr sz="4400">
                <a:solidFill>
                  <a:srgbClr val="000000"/>
                </a:solidFill>
                <a:latin typeface="Arial" panose="020B0604020202020204"/>
              </a:rPr>
              <a:t> MLP+LP achieves optimal robustness in hard regime</a:t>
            </a:r>
            <a:endParaRPr sz="440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14" name="Picture 13" descr="figure-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7816088"/>
            <a:ext cx="14691360" cy="9773749"/>
          </a:xfrm>
          <a:prstGeom prst="rect">
            <a:avLst/>
          </a:prstGeom>
        </p:spPr>
      </p:pic>
      <p:pic>
        <p:nvPicPr>
          <p:cNvPr id="15" name="Picture 14" descr="figur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3120" y="7816088"/>
            <a:ext cx="14691360" cy="4760106"/>
          </a:xfrm>
          <a:prstGeom prst="rect">
            <a:avLst/>
          </a:prstGeom>
        </p:spPr>
      </p:pic>
      <p:pic>
        <p:nvPicPr>
          <p:cNvPr id="16" name="Picture 15" descr="figure-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2256" y="20511536"/>
            <a:ext cx="11753088" cy="10230667"/>
          </a:xfrm>
          <a:prstGeom prst="rect">
            <a:avLst/>
          </a:prstGeom>
        </p:spPr>
      </p:pic>
      <p:pic>
        <p:nvPicPr>
          <p:cNvPr id="17" name="Picture 16" descr="figure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97520" y="7816088"/>
            <a:ext cx="14691360" cy="7788838"/>
          </a:xfrm>
          <a:prstGeom prst="rect">
            <a:avLst/>
          </a:prstGeom>
        </p:spPr>
      </p:pic>
      <p:pic>
        <p:nvPicPr>
          <p:cNvPr id="18" name="Picture 17" descr="figure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97520" y="22460581"/>
            <a:ext cx="14691360" cy="4702824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188720" y="6637528"/>
            <a:ext cx="502310" cy="8128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88720" y="24346619"/>
            <a:ext cx="502310" cy="8128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343120" y="6637528"/>
            <a:ext cx="502310" cy="8128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343120" y="19332976"/>
            <a:ext cx="502310" cy="8128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497520" y="6637528"/>
            <a:ext cx="502310" cy="8128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497520" y="21282021"/>
            <a:ext cx="502310" cy="8128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01520" y="6510655"/>
            <a:ext cx="13693775" cy="10763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400" b="1">
                <a:solidFill>
                  <a:srgbClr val="000000"/>
                </a:solidFill>
                <a:latin typeface="Helvetica Neue"/>
              </a:defRPr>
            </a:pPr>
            <a:r>
              <a:t>Robustness Problem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01520" y="24219535"/>
            <a:ext cx="13201015" cy="10763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400" b="1">
                <a:solidFill>
                  <a:srgbClr val="000000"/>
                </a:solidFill>
                <a:latin typeface="Helvetica Neue"/>
              </a:defRPr>
            </a:pPr>
            <a:r>
              <a:t>Background Setup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155920" y="6510655"/>
            <a:ext cx="14143355" cy="10763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400" b="1">
                <a:solidFill>
                  <a:srgbClr val="000000"/>
                </a:solidFill>
                <a:latin typeface="Helvetica Neue"/>
              </a:defRPr>
            </a:pPr>
            <a:r>
              <a:t>Semantics-Aware Method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155920" y="19206210"/>
            <a:ext cx="13950315" cy="10763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400" b="1">
                <a:solidFill>
                  <a:srgbClr val="000000"/>
                </a:solidFill>
                <a:latin typeface="Helvetica Neue"/>
              </a:defRPr>
            </a:pPr>
            <a:r>
              <a:t>Theoretical 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310320" y="6510655"/>
            <a:ext cx="13425805" cy="10763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400" b="1">
                <a:solidFill>
                  <a:srgbClr val="000000"/>
                </a:solidFill>
                <a:latin typeface="Helvetica Neue"/>
              </a:defRPr>
            </a:pPr>
            <a:r>
              <a:t>Key Findings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310320" y="21155025"/>
            <a:ext cx="13136245" cy="10763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400" b="1">
                <a:solidFill>
                  <a:srgbClr val="000000"/>
                </a:solidFill>
                <a:latin typeface="Helvetica Neue"/>
              </a:defRPr>
            </a:pPr>
            <a:r>
              <a:t>Performance Impact</a:t>
            </a:r>
          </a:p>
        </p:txBody>
      </p:sp>
      <p:pic>
        <p:nvPicPr>
          <p:cNvPr id="31" name="Picture 30" descr="a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23199" y="914400"/>
            <a:ext cx="5043848" cy="2764776"/>
          </a:xfrm>
          <a:prstGeom prst="rect">
            <a:avLst/>
          </a:prstGeom>
        </p:spPr>
      </p:pic>
      <p:pic>
        <p:nvPicPr>
          <p:cNvPr id="32" name="Picture 31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181450" y="914400"/>
            <a:ext cx="9281748" cy="276477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14400" y="914400"/>
            <a:ext cx="31394400" cy="275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0000" b="1">
                <a:solidFill>
                  <a:srgbClr val="000000"/>
                </a:solidFill>
                <a:latin typeface="Helvetica Neue"/>
              </a:defRPr>
            </a:pPr>
            <a:r>
              <a:t>Revisiting Robustness in Graph Machine Learning</a:t>
            </a:r>
          </a:p>
          <a:p>
            <a:pPr algn="l">
              <a:lnSpc>
                <a:spcPct val="110000"/>
              </a:lnSpc>
              <a:defRPr sz="7200">
                <a:solidFill>
                  <a:srgbClr val="3C3C3C"/>
                </a:solidFill>
                <a:latin typeface="Arial" panose="020B0604020202020204"/>
              </a:defRPr>
            </a:pPr>
            <a:r>
              <a:t>L. Gosch, D. Sturm, S. Geisler, S. Gunnemann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1657</Words>
  <Application>WPS 演示</Application>
  <PresentationFormat>自定义</PresentationFormat>
  <Paragraphs>42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Arial</vt:lpstr>
      <vt:lpstr>Helvetica Neue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nnnn</cp:lastModifiedBy>
  <cp:revision>3</cp:revision>
  <dcterms:created xsi:type="dcterms:W3CDTF">2013-01-27T09:14:00Z</dcterms:created>
  <dcterms:modified xsi:type="dcterms:W3CDTF">2025-12-17T12:02:04Z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A71D3416B4034B94BDD52BECB3592542_13</vt:lpwstr>
  </property>
  <property fmtid="{D5CDD505-2E9C-101B-9397-08002B2CF9AE}" pid="3" name="KSOProductBuildVer">
    <vt:lpwstr>2052-12.1.0.23542</vt:lpwstr>
  </property>
</Properties>
</file>